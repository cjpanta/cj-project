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3"/>
  </p:notesMasterIdLst>
  <p:sldIdLst>
    <p:sldId id="347" r:id="rId2"/>
    <p:sldId id="352" r:id="rId3"/>
    <p:sldId id="353" r:id="rId4"/>
    <p:sldId id="354" r:id="rId5"/>
    <p:sldId id="355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389" r:id="rId37"/>
    <p:sldId id="390" r:id="rId38"/>
    <p:sldId id="391" r:id="rId39"/>
    <p:sldId id="392" r:id="rId40"/>
    <p:sldId id="393" r:id="rId41"/>
    <p:sldId id="394" r:id="rId42"/>
    <p:sldId id="395" r:id="rId43"/>
    <p:sldId id="396" r:id="rId44"/>
    <p:sldId id="397" r:id="rId45"/>
    <p:sldId id="398" r:id="rId46"/>
    <p:sldId id="399" r:id="rId47"/>
    <p:sldId id="400" r:id="rId48"/>
    <p:sldId id="401" r:id="rId49"/>
    <p:sldId id="402" r:id="rId50"/>
    <p:sldId id="403" r:id="rId51"/>
    <p:sldId id="404" r:id="rId52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39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CBECE-8CC1-4C07-B168-EC7AB47AA773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83F1A-C5D9-45C9-B7BC-F6568EA7BAE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25237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P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1DB6438-6CE9-4298-BC47-CA6D4EA4AE01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CDAB4C6-F6D2-4BF2-9F53-4ACFB4C85928}" type="slidenum">
              <a:rPr lang="es-PE" smtClean="0"/>
              <a:t>‹Nº›</a:t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			ESTIRAMIENTOS MUSCULO TENDINOSOS</a:t>
            </a:r>
            <a:br>
              <a:rPr lang="es-ES" dirty="0" smtClean="0"/>
            </a:br>
            <a:r>
              <a:rPr lang="es-ES" dirty="0" smtClean="0"/>
              <a:t>LIC. CESAR BORJA ARENAS</a:t>
            </a:r>
            <a:endParaRPr lang="es-ES" dirty="0"/>
          </a:p>
        </p:txBody>
      </p:sp>
      <p:pic>
        <p:nvPicPr>
          <p:cNvPr id="9" name="8 Marcador de contenido" descr="20120903_01083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217943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INDICACIONES DEL ESTIRAMIENTO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457200" y="2459037"/>
            <a:ext cx="7211144" cy="3959352"/>
          </a:xfrm>
        </p:spPr>
        <p:txBody>
          <a:bodyPr>
            <a:normAutofit/>
          </a:bodyPr>
          <a:lstStyle/>
          <a:p>
            <a:pPr marL="525780" indent="-457200">
              <a:buFont typeface="+mj-lt"/>
              <a:buAutoNum type="arabicPeriod"/>
            </a:pPr>
            <a:r>
              <a:rPr lang="es-ES" dirty="0" smtClean="0"/>
              <a:t>Tratamiento del síndrome del dolor miofacial</a:t>
            </a:r>
          </a:p>
          <a:p>
            <a:pPr marL="525780" indent="-457200">
              <a:buFont typeface="+mj-lt"/>
              <a:buAutoNum type="arabicPeriod"/>
            </a:pPr>
            <a:r>
              <a:rPr lang="es-ES" dirty="0" smtClean="0"/>
              <a:t>Mejora el rango articular</a:t>
            </a:r>
          </a:p>
          <a:p>
            <a:pPr marL="525780" indent="-457200">
              <a:buFont typeface="+mj-lt"/>
              <a:buAutoNum type="arabicPeriod"/>
            </a:pPr>
            <a:r>
              <a:rPr lang="es-ES" dirty="0" smtClean="0"/>
              <a:t>Previene las contracturas musculares</a:t>
            </a:r>
          </a:p>
          <a:p>
            <a:pPr marL="525780" indent="-457200">
              <a:buFont typeface="+mj-lt"/>
              <a:buAutoNum type="arabicPeriod"/>
            </a:pPr>
            <a:r>
              <a:rPr lang="es-ES" dirty="0" smtClean="0"/>
              <a:t> Disminuye  el dolor pos ejercicio </a:t>
            </a:r>
          </a:p>
          <a:p>
            <a:pPr marL="525780" indent="-457200">
              <a:buFont typeface="+mj-lt"/>
              <a:buAutoNum type="arabicPeriod"/>
            </a:pPr>
            <a:r>
              <a:rPr lang="es-ES" dirty="0" smtClean="0"/>
              <a:t>Ayuda a disminuir la incidencia de lesiones deportivas</a:t>
            </a:r>
            <a:endParaRPr lang="es-ES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None/>
            </a:pPr>
            <a:endParaRPr lang="es-ES" dirty="0" smtClean="0"/>
          </a:p>
          <a:p>
            <a:pPr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184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FACTORES PSICOLOGICOS QUE INFLUYEN EN EL ESTIRAMIENTO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457200" y="2459037"/>
            <a:ext cx="7643192" cy="39593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dirty="0" smtClean="0"/>
              <a:t>	Cuando realizamos esta </a:t>
            </a:r>
            <a:r>
              <a:rPr lang="es-ES" dirty="0" err="1" smtClean="0"/>
              <a:t>tecnica</a:t>
            </a:r>
            <a:r>
              <a:rPr lang="es-ES" dirty="0" smtClean="0"/>
              <a:t> debemos tener en cuenta que tenemos factores externos e internos que modificaran el estiramiento.</a:t>
            </a:r>
          </a:p>
          <a:p>
            <a:pPr>
              <a:buNone/>
            </a:pPr>
            <a:r>
              <a:rPr lang="es-ES" dirty="0" smtClean="0"/>
              <a:t>	Si la persona s ve influida por diferentes emociones (factor interno), el efecto del estiramiento varia. La </a:t>
            </a:r>
            <a:r>
              <a:rPr lang="es-ES" dirty="0" err="1" smtClean="0"/>
              <a:t>atencion</a:t>
            </a:r>
            <a:r>
              <a:rPr lang="es-ES" dirty="0" smtClean="0"/>
              <a:t>, preocupaciones, ansiedad, tristeza, </a:t>
            </a:r>
            <a:r>
              <a:rPr lang="es-ES" dirty="0" err="1" smtClean="0"/>
              <a:t>etc.van</a:t>
            </a:r>
            <a:r>
              <a:rPr lang="es-ES" dirty="0" smtClean="0"/>
              <a:t> a aumentar la resistencia al estiramiento. La persona tranquila, relajada, alegre </a:t>
            </a:r>
            <a:r>
              <a:rPr lang="es-ES" dirty="0" err="1" smtClean="0"/>
              <a:t>tendra</a:t>
            </a:r>
            <a:r>
              <a:rPr lang="es-ES" dirty="0" smtClean="0"/>
              <a:t> los </a:t>
            </a:r>
            <a:r>
              <a:rPr lang="es-ES" dirty="0" err="1" smtClean="0"/>
              <a:t>musculos</a:t>
            </a:r>
            <a:r>
              <a:rPr lang="es-ES" dirty="0" smtClean="0"/>
              <a:t> mas predispuestos al estiramiento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3923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LA RESPIRACION Y ESTIRAMIENTO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395536" y="2284435"/>
            <a:ext cx="7715200" cy="457356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dirty="0" smtClean="0"/>
              <a:t>	A medida que uno exhala los músculos de todo el cuerpo tienden a relajarse con la inhalación la actividad muscular se facilita por ello, al realizar el estiramiento se recomienda un expiración lenta y profunda que permita mayor relajación muscular.</a:t>
            </a:r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endParaRPr lang="es-ES" dirty="0"/>
          </a:p>
        </p:txBody>
      </p:sp>
      <p:pic>
        <p:nvPicPr>
          <p:cNvPr id="7" name="6 Marcador de contenido" descr="Diaphragmatic_breathing.gif"/>
          <p:cNvPicPr>
            <a:picLocks noGrp="1" noChangeAspect="1"/>
          </p:cNvPicPr>
          <p:nvPr>
            <p:ph sz="quarter" idx="4"/>
          </p:nvPr>
        </p:nvPicPr>
        <p:blipFill>
          <a:blip r:embed="rId2" cstate="print"/>
          <a:stretch>
            <a:fillRect/>
          </a:stretch>
        </p:blipFill>
        <p:spPr>
          <a:xfrm>
            <a:off x="4932040" y="4293096"/>
            <a:ext cx="2771403" cy="2198858"/>
          </a:xfrm>
        </p:spPr>
      </p:pic>
    </p:spTree>
    <p:extLst>
      <p:ext uri="{BB962C8B-B14F-4D97-AF65-F5344CB8AC3E}">
        <p14:creationId xmlns:p14="http://schemas.microsoft.com/office/powerpoint/2010/main" val="368102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PRECAUCIONES DE LOS ESTIRAMIENTOS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1041720" y="2974694"/>
            <a:ext cx="6626623" cy="283579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ES" sz="1600" dirty="0" smtClean="0"/>
              <a:t>Fracturas en </a:t>
            </a:r>
            <a:r>
              <a:rPr lang="es-ES" sz="1600" dirty="0" err="1" smtClean="0"/>
              <a:t>vias</a:t>
            </a:r>
            <a:r>
              <a:rPr lang="es-ES" sz="1600" dirty="0" smtClean="0"/>
              <a:t> de </a:t>
            </a:r>
            <a:r>
              <a:rPr lang="es-ES" sz="1600" dirty="0" err="1" smtClean="0"/>
              <a:t>consolidacion</a:t>
            </a:r>
            <a:r>
              <a:rPr lang="es-ES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s-ES" sz="1600" dirty="0" smtClean="0"/>
              <a:t>No forzar la </a:t>
            </a:r>
            <a:r>
              <a:rPr lang="es-ES" sz="1600" dirty="0" err="1" smtClean="0"/>
              <a:t>articulacion</a:t>
            </a:r>
            <a:r>
              <a:rPr lang="es-ES" sz="1600" dirty="0" smtClean="0"/>
              <a:t> mas </a:t>
            </a:r>
            <a:r>
              <a:rPr lang="es-ES" sz="1600" dirty="0" err="1" smtClean="0"/>
              <a:t>alla</a:t>
            </a:r>
            <a:r>
              <a:rPr lang="es-ES" sz="1600" dirty="0" smtClean="0"/>
              <a:t> del rango de movimiento</a:t>
            </a:r>
          </a:p>
          <a:p>
            <a:pPr>
              <a:lnSpc>
                <a:spcPct val="150000"/>
              </a:lnSpc>
            </a:pPr>
            <a:r>
              <a:rPr lang="es-ES" sz="1600" dirty="0" smtClean="0"/>
              <a:t>Tener cuidado en pacientes con osteoporosis</a:t>
            </a:r>
          </a:p>
          <a:p>
            <a:pPr>
              <a:lnSpc>
                <a:spcPct val="150000"/>
              </a:lnSpc>
            </a:pPr>
            <a:r>
              <a:rPr lang="es-ES" sz="1600" dirty="0" smtClean="0"/>
              <a:t>Evitar elongaciones vigorosas al inicio</a:t>
            </a:r>
          </a:p>
          <a:p>
            <a:pPr>
              <a:lnSpc>
                <a:spcPct val="150000"/>
              </a:lnSpc>
            </a:pPr>
            <a:r>
              <a:rPr lang="es-ES" sz="1600" dirty="0" smtClean="0"/>
              <a:t>Evitar el </a:t>
            </a:r>
            <a:r>
              <a:rPr lang="es-ES" sz="1600" dirty="0" err="1" smtClean="0"/>
              <a:t>sobreestiramiento</a:t>
            </a:r>
            <a:r>
              <a:rPr lang="es-ES" sz="1600" dirty="0" smtClean="0"/>
              <a:t> de </a:t>
            </a:r>
            <a:r>
              <a:rPr lang="es-ES" sz="1600" dirty="0" err="1" smtClean="0"/>
              <a:t>musculos</a:t>
            </a:r>
            <a:r>
              <a:rPr lang="es-ES" sz="1600" dirty="0" smtClean="0"/>
              <a:t> posturales</a:t>
            </a:r>
          </a:p>
          <a:p>
            <a:pPr>
              <a:lnSpc>
                <a:spcPct val="150000"/>
              </a:lnSpc>
            </a:pPr>
            <a:r>
              <a:rPr lang="es-ES" sz="1600" dirty="0" smtClean="0"/>
              <a:t>Tener cuidado en pacientes gestantes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410835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CONTRAINDICACIONES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 smtClean="0"/>
              <a:t>Cuando hay topes </a:t>
            </a:r>
            <a:r>
              <a:rPr lang="es-ES" dirty="0" err="1" smtClean="0"/>
              <a:t>oseos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Fracturas recientes.</a:t>
            </a:r>
          </a:p>
          <a:p>
            <a:r>
              <a:rPr lang="es-ES" dirty="0" smtClean="0"/>
              <a:t>Dolor muy agudo o </a:t>
            </a:r>
            <a:r>
              <a:rPr lang="es-ES" dirty="0" err="1" smtClean="0"/>
              <a:t>punsante</a:t>
            </a:r>
            <a:r>
              <a:rPr lang="es-ES" dirty="0" smtClean="0"/>
              <a:t>.</a:t>
            </a:r>
          </a:p>
          <a:p>
            <a:r>
              <a:rPr lang="es-ES" dirty="0" smtClean="0"/>
              <a:t>Evidencia de </a:t>
            </a:r>
            <a:r>
              <a:rPr lang="es-ES" dirty="0" err="1" smtClean="0"/>
              <a:t>infamacion</a:t>
            </a:r>
            <a:r>
              <a:rPr lang="es-ES" dirty="0" smtClean="0"/>
              <a:t> o </a:t>
            </a:r>
            <a:r>
              <a:rPr lang="es-ES" dirty="0" err="1" smtClean="0"/>
              <a:t>infeccion</a:t>
            </a:r>
            <a:r>
              <a:rPr lang="es-ES" dirty="0" smtClean="0"/>
              <a:t> aguda.</a:t>
            </a:r>
          </a:p>
          <a:p>
            <a:r>
              <a:rPr lang="es-ES" dirty="0" err="1" smtClean="0"/>
              <a:t>Hipermovilidad</a:t>
            </a:r>
            <a:r>
              <a:rPr lang="es-ES" dirty="0" smtClean="0"/>
              <a:t> articular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602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1332760"/>
          </a:xfrm>
        </p:spPr>
        <p:txBody>
          <a:bodyPr>
            <a:normAutofit/>
          </a:bodyPr>
          <a:lstStyle/>
          <a:p>
            <a:r>
              <a:rPr lang="es-ES" dirty="0" smtClean="0"/>
              <a:t>PREPARACION PREVIA AL ESTIRAMIENTO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s-ES" dirty="0" smtClean="0"/>
              <a:t>Mecanismos locales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 smtClean="0"/>
              <a:t>Aplicación de calor. </a:t>
            </a:r>
          </a:p>
          <a:p>
            <a:r>
              <a:rPr lang="es-ES" dirty="0" smtClean="0"/>
              <a:t>Aplicación de frio.</a:t>
            </a:r>
          </a:p>
          <a:p>
            <a:r>
              <a:rPr lang="es-ES" dirty="0" smtClean="0"/>
              <a:t>Electroterapia.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4677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TECNICAS DE ESTIRAMIENTO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smtClean="0"/>
              <a:t>Estiramiento dinámico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25780" indent="-457200">
              <a:buFont typeface="+mj-lt"/>
              <a:buAutoNum type="arabicPeriod"/>
            </a:pPr>
            <a:r>
              <a:rPr lang="es-ES" dirty="0" smtClean="0"/>
              <a:t>E. balístico.</a:t>
            </a:r>
          </a:p>
          <a:p>
            <a:pPr marL="525780" indent="-457200">
              <a:buFont typeface="+mj-lt"/>
              <a:buAutoNum type="arabicPeriod"/>
            </a:pPr>
            <a:r>
              <a:rPr lang="es-ES" dirty="0" smtClean="0"/>
              <a:t>E. Dinámico controlado.</a:t>
            </a:r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/>
          </a:bodyPr>
          <a:lstStyle/>
          <a:p>
            <a:r>
              <a:rPr lang="es-ES" dirty="0" smtClean="0"/>
              <a:t>Estiramiento estático</a:t>
            </a:r>
            <a:endParaRPr lang="es-ES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 smtClean="0"/>
              <a:t>E. Pasivo.</a:t>
            </a:r>
          </a:p>
          <a:p>
            <a:r>
              <a:rPr lang="es-ES" dirty="0" smtClean="0"/>
              <a:t>E. Activo.</a:t>
            </a:r>
          </a:p>
          <a:p>
            <a:pPr marL="525780" indent="-457200">
              <a:buFont typeface="+mj-lt"/>
              <a:buAutoNum type="arabicPeriod"/>
            </a:pPr>
            <a:r>
              <a:rPr lang="es-ES" dirty="0" smtClean="0"/>
              <a:t>E. A. post-</a:t>
            </a:r>
            <a:r>
              <a:rPr lang="es-ES" dirty="0" err="1" smtClean="0"/>
              <a:t>isometrico</a:t>
            </a:r>
            <a:r>
              <a:rPr lang="es-ES" dirty="0" smtClean="0"/>
              <a:t>.</a:t>
            </a:r>
          </a:p>
          <a:p>
            <a:pPr marL="525780" indent="-457200">
              <a:buFont typeface="+mj-lt"/>
              <a:buAutoNum type="arabicPeriod"/>
            </a:pPr>
            <a:r>
              <a:rPr lang="es-ES" dirty="0" smtClean="0"/>
              <a:t>E. A. con inhibición reciproca</a:t>
            </a:r>
          </a:p>
          <a:p>
            <a:pPr marL="525780" indent="-457200">
              <a:buFont typeface="+mj-lt"/>
              <a:buAutoNum type="arabicPeriod"/>
            </a:pPr>
            <a:r>
              <a:rPr lang="es-ES" dirty="0" smtClean="0"/>
              <a:t>E. A. activo combinado.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2858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Estiramiento dinámico</a:t>
            </a:r>
            <a:br>
              <a:rPr lang="es-ES" dirty="0" smtClean="0"/>
            </a:b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smtClean="0"/>
              <a:t>E. Dinámico balístico.</a:t>
            </a:r>
          </a:p>
          <a:p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 smtClean="0"/>
              <a:t>Se realiza </a:t>
            </a:r>
            <a:r>
              <a:rPr lang="es-ES" dirty="0" err="1" smtClean="0"/>
              <a:t>atravez</a:t>
            </a:r>
            <a:r>
              <a:rPr lang="es-ES" dirty="0" smtClean="0"/>
              <a:t> de un balanceo continuo usando los </a:t>
            </a:r>
            <a:r>
              <a:rPr lang="es-ES" dirty="0" err="1" smtClean="0"/>
              <a:t>musculos</a:t>
            </a:r>
            <a:r>
              <a:rPr lang="es-ES" dirty="0" smtClean="0"/>
              <a:t> estirados como resortes.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403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smtClean="0"/>
              <a:t>E. Dinámico controlado.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 smtClean="0"/>
              <a:t>Similar al anterior pero se usan </a:t>
            </a:r>
            <a:r>
              <a:rPr lang="es-ES" dirty="0"/>
              <a:t>b</a:t>
            </a:r>
            <a:r>
              <a:rPr lang="es-ES" dirty="0" smtClean="0"/>
              <a:t>alanceos controlados y solo se usa en personas saludables.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1453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ESTIRAMIENTO ESTATICO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Estiramiento Pasivo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 smtClean="0"/>
              <a:t>Se estira al musculo sin intervención directa de estos mismos, se mantienen mas de 10s y pueden ser; auto estiramiento con ayuda de un apoyo o con ayuda de </a:t>
            </a:r>
            <a:r>
              <a:rPr lang="es-ES" dirty="0" err="1" smtClean="0"/>
              <a:t>oto</a:t>
            </a:r>
            <a:r>
              <a:rPr lang="es-ES" dirty="0" smtClean="0"/>
              <a:t> segmento del cuerpo.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8036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Estiramiento activo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25780" indent="-457200">
              <a:buFont typeface="+mj-lt"/>
              <a:buAutoNum type="arabicPeriod"/>
            </a:pPr>
            <a:r>
              <a:rPr lang="es-ES" dirty="0" smtClean="0"/>
              <a:t>E. A. post-</a:t>
            </a:r>
            <a:r>
              <a:rPr lang="es-ES" dirty="0" err="1" smtClean="0"/>
              <a:t>isometrico</a:t>
            </a:r>
            <a:r>
              <a:rPr lang="es-ES" dirty="0" smtClean="0"/>
              <a:t>, se ubica la </a:t>
            </a:r>
            <a:r>
              <a:rPr lang="es-ES" dirty="0" err="1" smtClean="0"/>
              <a:t>posicion</a:t>
            </a:r>
            <a:r>
              <a:rPr lang="es-ES" dirty="0" smtClean="0"/>
              <a:t> de estiramiento, </a:t>
            </a:r>
            <a:r>
              <a:rPr lang="es-ES" dirty="0" err="1" smtClean="0"/>
              <a:t>contraccion</a:t>
            </a:r>
            <a:r>
              <a:rPr lang="es-ES" dirty="0" smtClean="0"/>
              <a:t> </a:t>
            </a:r>
            <a:r>
              <a:rPr lang="es-ES" dirty="0" err="1" smtClean="0"/>
              <a:t>isometrica</a:t>
            </a:r>
            <a:r>
              <a:rPr lang="es-ES" dirty="0" smtClean="0"/>
              <a:t> 10s se relaja e inicia el estiramiento.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382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4040188" cy="1080120"/>
          </a:xfrm>
        </p:spPr>
        <p:txBody>
          <a:bodyPr>
            <a:normAutofit/>
          </a:bodyPr>
          <a:lstStyle/>
          <a:p>
            <a:r>
              <a:rPr lang="es-ES" dirty="0" smtClean="0"/>
              <a:t>E. A. con inhibición reciproca</a:t>
            </a:r>
          </a:p>
          <a:p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smtClean="0"/>
              <a:t>Se contraen los ms antagonistas de musculo q se va estirar. se ubica la </a:t>
            </a:r>
            <a:r>
              <a:rPr lang="es-ES" dirty="0" err="1" smtClean="0"/>
              <a:t>posicion</a:t>
            </a:r>
            <a:r>
              <a:rPr lang="es-ES" dirty="0" smtClean="0"/>
              <a:t> de estiramiento, </a:t>
            </a:r>
            <a:r>
              <a:rPr lang="es-ES" dirty="0" err="1" smtClean="0"/>
              <a:t>contraccion</a:t>
            </a:r>
            <a:r>
              <a:rPr lang="es-ES" dirty="0" smtClean="0"/>
              <a:t> de los ms antagonistas 10s se acompaña al movimiento</a:t>
            </a:r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smtClean="0"/>
              <a:t>E. A. activo combinado</a:t>
            </a:r>
          </a:p>
          <a:p>
            <a:endParaRPr lang="es-ES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 err="1" smtClean="0"/>
              <a:t>Combinacion</a:t>
            </a:r>
            <a:r>
              <a:rPr lang="es-ES" dirty="0" smtClean="0"/>
              <a:t> de los dos anteriores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448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ESTIRAMIENTO DE LOS MUSCULOS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Trapecio superior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395536" y="2898648"/>
            <a:ext cx="8363272" cy="39593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dirty="0" smtClean="0"/>
              <a:t>Paciente sedente apoyando ambas manos en la silla.</a:t>
            </a:r>
          </a:p>
          <a:p>
            <a:r>
              <a:rPr lang="es-ES" dirty="0" smtClean="0"/>
              <a:t>Contacto manual</a:t>
            </a:r>
          </a:p>
          <a:p>
            <a:pPr>
              <a:buNone/>
            </a:pPr>
            <a:r>
              <a:rPr lang="es-ES" dirty="0" smtClean="0"/>
              <a:t>	Punto fijo:acromio clavicular.</a:t>
            </a:r>
          </a:p>
          <a:p>
            <a:pPr>
              <a:buNone/>
            </a:pPr>
            <a:r>
              <a:rPr lang="es-ES" dirty="0" smtClean="0"/>
              <a:t>	Punto móvil: temporoparietal.</a:t>
            </a:r>
          </a:p>
          <a:p>
            <a:r>
              <a:rPr lang="es-ES" dirty="0" smtClean="0"/>
              <a:t>Resistencia en sentido contrario.</a:t>
            </a:r>
          </a:p>
          <a:p>
            <a:r>
              <a:rPr lang="es-ES" dirty="0" smtClean="0"/>
              <a:t>Maniobra: flexión, inclinacion </a:t>
            </a:r>
            <a:r>
              <a:rPr lang="es-ES" dirty="0" err="1" smtClean="0"/>
              <a:t>contralateral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421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9" name="8 Marcador de contenido" descr="20120910_095310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373000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smtClean="0"/>
              <a:t>Esternocleidomastoideo</a:t>
            </a:r>
          </a:p>
          <a:p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457200" y="2459037"/>
            <a:ext cx="8147248" cy="39593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dirty="0" smtClean="0"/>
              <a:t>Paciente sedente apoyando ambas manos en la silla.</a:t>
            </a:r>
          </a:p>
          <a:p>
            <a:r>
              <a:rPr lang="es-ES" dirty="0" smtClean="0"/>
              <a:t>Contacto manual</a:t>
            </a:r>
          </a:p>
          <a:p>
            <a:pPr>
              <a:buNone/>
            </a:pPr>
            <a:r>
              <a:rPr lang="es-ES" dirty="0" smtClean="0"/>
              <a:t>	Punto fijo:acromio clavicular.</a:t>
            </a:r>
          </a:p>
          <a:p>
            <a:pPr>
              <a:buNone/>
            </a:pPr>
            <a:r>
              <a:rPr lang="es-ES" dirty="0" smtClean="0"/>
              <a:t>	Punto móvil: temporoparietal.</a:t>
            </a:r>
          </a:p>
          <a:p>
            <a:r>
              <a:rPr lang="es-ES" dirty="0" smtClean="0"/>
              <a:t>Resistencia en sentido contrario.</a:t>
            </a:r>
          </a:p>
          <a:p>
            <a:r>
              <a:rPr lang="es-ES" dirty="0" smtClean="0"/>
              <a:t>Maniobra: extensión, inclinacion contra lateral y rotación homolateral de cabeza y cuello.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131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9" name="8 Marcador de contenido" descr="20120910_09543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85022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dirty="0" smtClean="0"/>
              <a:t/>
            </a:r>
            <a:br>
              <a:rPr lang="es-ES" sz="2800" dirty="0" smtClean="0"/>
            </a:br>
            <a:r>
              <a:rPr lang="es-ES" sz="2800" dirty="0" smtClean="0"/>
              <a:t>Romboides</a:t>
            </a:r>
            <a:endParaRPr lang="es-ES" sz="28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s-ES" sz="7200" dirty="0" smtClean="0"/>
              <a:t>Paciente sedente </a:t>
            </a:r>
          </a:p>
          <a:p>
            <a:r>
              <a:rPr lang="es-ES" sz="7200" dirty="0" smtClean="0"/>
              <a:t>Contacto manual</a:t>
            </a:r>
          </a:p>
          <a:p>
            <a:pPr>
              <a:buNone/>
            </a:pPr>
            <a:r>
              <a:rPr lang="es-ES" sz="7200" dirty="0" smtClean="0"/>
              <a:t>	Punto </a:t>
            </a:r>
            <a:r>
              <a:rPr lang="es-ES" sz="7200" dirty="0" err="1" smtClean="0"/>
              <a:t>fijo:hemitorax</a:t>
            </a:r>
            <a:r>
              <a:rPr lang="es-ES" sz="7200" dirty="0" smtClean="0"/>
              <a:t> </a:t>
            </a:r>
            <a:r>
              <a:rPr lang="es-ES" sz="7200" dirty="0" err="1" smtClean="0"/>
              <a:t>contralateral</a:t>
            </a:r>
            <a:r>
              <a:rPr lang="es-ES" sz="7200" dirty="0" smtClean="0"/>
              <a:t>.</a:t>
            </a:r>
          </a:p>
          <a:p>
            <a:pPr>
              <a:buNone/>
            </a:pPr>
            <a:r>
              <a:rPr lang="es-ES" sz="7200" dirty="0" smtClean="0"/>
              <a:t>	Punto móvil: cara posterior de la escapula.</a:t>
            </a:r>
          </a:p>
          <a:p>
            <a:r>
              <a:rPr lang="es-ES" sz="7200" dirty="0" smtClean="0"/>
              <a:t>Resistencia: </a:t>
            </a:r>
            <a:r>
              <a:rPr lang="es-ES" sz="7200" dirty="0" err="1" smtClean="0"/>
              <a:t>aduccion</a:t>
            </a:r>
            <a:r>
              <a:rPr lang="es-ES" sz="7200" dirty="0" smtClean="0"/>
              <a:t> de la escapula.</a:t>
            </a:r>
          </a:p>
          <a:p>
            <a:r>
              <a:rPr lang="es-ES" sz="7200" dirty="0" smtClean="0"/>
              <a:t>Maniobra: </a:t>
            </a:r>
            <a:r>
              <a:rPr lang="es-ES" sz="7200" dirty="0" err="1" smtClean="0"/>
              <a:t>abeduccion</a:t>
            </a:r>
            <a:r>
              <a:rPr lang="es-ES" sz="7200" dirty="0" smtClean="0"/>
              <a:t> de la escapula.</a:t>
            </a:r>
          </a:p>
          <a:p>
            <a:endParaRPr lang="es-ES" sz="7200" dirty="0" smtClean="0"/>
          </a:p>
          <a:p>
            <a:endParaRPr lang="es-ES" sz="7200" dirty="0" smtClean="0"/>
          </a:p>
          <a:p>
            <a:pPr>
              <a:buNone/>
            </a:pPr>
            <a:r>
              <a:rPr lang="es-ES" sz="7200" dirty="0" smtClean="0"/>
              <a:t>   </a:t>
            </a:r>
            <a:endParaRPr lang="es-ES" sz="7200" dirty="0"/>
          </a:p>
        </p:txBody>
      </p:sp>
    </p:spTree>
    <p:extLst>
      <p:ext uri="{BB962C8B-B14F-4D97-AF65-F5344CB8AC3E}">
        <p14:creationId xmlns:p14="http://schemas.microsoft.com/office/powerpoint/2010/main" val="227753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09573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283204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dirty="0" smtClean="0"/>
              <a:t/>
            </a:r>
            <a:br>
              <a:rPr lang="es-ES" sz="2800" dirty="0" smtClean="0"/>
            </a:br>
            <a:r>
              <a:rPr lang="es-ES" sz="2800" dirty="0" smtClean="0"/>
              <a:t>Dorsal ancho</a:t>
            </a:r>
            <a:endParaRPr lang="es-ES" sz="28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s-ES" sz="3200" dirty="0" smtClean="0"/>
              <a:t>Paciente sedente </a:t>
            </a:r>
          </a:p>
          <a:p>
            <a:r>
              <a:rPr lang="es-ES" sz="3200" dirty="0" smtClean="0"/>
              <a:t>Contacto manual</a:t>
            </a:r>
          </a:p>
          <a:p>
            <a:pPr>
              <a:buNone/>
            </a:pPr>
            <a:r>
              <a:rPr lang="es-ES" sz="3200" dirty="0" smtClean="0"/>
              <a:t>	Punto fijo: cresta iliaca.</a:t>
            </a:r>
          </a:p>
          <a:p>
            <a:pPr>
              <a:buNone/>
            </a:pPr>
            <a:r>
              <a:rPr lang="es-ES" sz="3200" dirty="0" smtClean="0"/>
              <a:t>	Punto móvil: articulación del codo.</a:t>
            </a:r>
          </a:p>
          <a:p>
            <a:r>
              <a:rPr lang="es-ES" sz="3200" dirty="0" smtClean="0"/>
              <a:t>Resistencia: aducción del hombro.</a:t>
            </a:r>
          </a:p>
          <a:p>
            <a:r>
              <a:rPr lang="es-ES" sz="3200" dirty="0" smtClean="0"/>
              <a:t>Maniobra: abducción del hombro.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60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09591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126490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 smtClean="0"/>
              <a:t/>
            </a:r>
            <a:br>
              <a:rPr lang="es-ES" sz="2400" dirty="0" smtClean="0"/>
            </a:br>
            <a:r>
              <a:rPr lang="es-ES" sz="2400" dirty="0" smtClean="0"/>
              <a:t>Cuadrado Lumbar</a:t>
            </a:r>
            <a:endParaRPr lang="es-ES" sz="2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sz="2800" dirty="0" smtClean="0"/>
              <a:t>Paciente posición bípeda, cadera en extensión y aducción. </a:t>
            </a:r>
          </a:p>
          <a:p>
            <a:r>
              <a:rPr lang="es-ES" sz="2800" dirty="0" smtClean="0"/>
              <a:t>Contacto manual</a:t>
            </a:r>
          </a:p>
          <a:p>
            <a:pPr>
              <a:buNone/>
            </a:pPr>
            <a:r>
              <a:rPr lang="es-ES" sz="2800" dirty="0" smtClean="0"/>
              <a:t>	Punto fijo: cadera contra lateral.</a:t>
            </a:r>
          </a:p>
          <a:p>
            <a:pPr>
              <a:buNone/>
            </a:pPr>
            <a:r>
              <a:rPr lang="es-ES" sz="2800" dirty="0" smtClean="0"/>
              <a:t>	Punto móvil: parrilla costal.</a:t>
            </a:r>
          </a:p>
          <a:p>
            <a:r>
              <a:rPr lang="es-ES" sz="2800" dirty="0" smtClean="0"/>
              <a:t>Resistencia: alineación del tronco.</a:t>
            </a:r>
          </a:p>
          <a:p>
            <a:r>
              <a:rPr lang="es-ES" sz="2800" dirty="0" smtClean="0"/>
              <a:t>Maniobra: inclinacion lateral del tronco.</a:t>
            </a:r>
          </a:p>
          <a:p>
            <a:pPr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896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011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187033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 smtClean="0"/>
              <a:t/>
            </a:r>
            <a:br>
              <a:rPr lang="es-ES" sz="2400" dirty="0" smtClean="0"/>
            </a:br>
            <a:r>
              <a:rPr lang="es-ES" sz="2400" dirty="0" smtClean="0"/>
              <a:t>Recto anterior del abdomen</a:t>
            </a:r>
            <a:endParaRPr lang="es-ES" sz="2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s-ES" sz="3200" dirty="0" smtClean="0"/>
              <a:t>Paciente de rodillas miembros superiores elevados por encima de la cabeza. </a:t>
            </a:r>
          </a:p>
          <a:p>
            <a:r>
              <a:rPr lang="es-ES" sz="3200" dirty="0" smtClean="0"/>
              <a:t>Contacto manual</a:t>
            </a:r>
          </a:p>
          <a:p>
            <a:pPr>
              <a:buNone/>
            </a:pPr>
            <a:r>
              <a:rPr lang="es-ES" sz="3200" dirty="0" smtClean="0"/>
              <a:t>	Punto fijo: antebrazo en la </a:t>
            </a:r>
            <a:r>
              <a:rPr lang="es-ES" sz="3200" dirty="0" err="1" smtClean="0"/>
              <a:t>region</a:t>
            </a:r>
            <a:r>
              <a:rPr lang="es-ES" sz="3200" dirty="0" smtClean="0"/>
              <a:t> lumbar.</a:t>
            </a:r>
          </a:p>
          <a:p>
            <a:pPr>
              <a:buNone/>
            </a:pPr>
            <a:r>
              <a:rPr lang="es-ES" sz="3200" dirty="0" smtClean="0"/>
              <a:t>	Punto móvil: esternón.</a:t>
            </a:r>
          </a:p>
          <a:p>
            <a:r>
              <a:rPr lang="es-ES" sz="3200" dirty="0" smtClean="0"/>
              <a:t>Resistencia: a la </a:t>
            </a:r>
            <a:r>
              <a:rPr lang="es-ES" sz="3200" dirty="0" err="1" smtClean="0"/>
              <a:t>flexion</a:t>
            </a:r>
            <a:r>
              <a:rPr lang="es-ES" sz="3200" dirty="0" smtClean="0"/>
              <a:t> de tronco.</a:t>
            </a:r>
          </a:p>
          <a:p>
            <a:r>
              <a:rPr lang="es-ES" sz="3200" dirty="0" smtClean="0"/>
              <a:t>Maniobra: </a:t>
            </a:r>
            <a:r>
              <a:rPr lang="es-ES" sz="3200" dirty="0" err="1" smtClean="0"/>
              <a:t>extension</a:t>
            </a:r>
            <a:r>
              <a:rPr lang="es-ES" sz="3200" dirty="0" smtClean="0"/>
              <a:t> de tronco.</a:t>
            </a:r>
          </a:p>
          <a:p>
            <a:pPr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008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0306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118774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Deltoides fibras  anteriores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s-ES" sz="3200" dirty="0" smtClean="0"/>
              <a:t>Paciente en posición sedente, brazo en </a:t>
            </a:r>
            <a:r>
              <a:rPr lang="es-ES" sz="3200" dirty="0" err="1" smtClean="0"/>
              <a:t>abduccion</a:t>
            </a:r>
            <a:r>
              <a:rPr lang="es-ES" sz="3200" dirty="0" smtClean="0"/>
              <a:t> y </a:t>
            </a:r>
            <a:r>
              <a:rPr lang="es-ES" sz="3200" dirty="0" err="1" smtClean="0"/>
              <a:t>rotacion</a:t>
            </a:r>
            <a:r>
              <a:rPr lang="es-ES" sz="3200" dirty="0" smtClean="0"/>
              <a:t> externa. </a:t>
            </a:r>
          </a:p>
          <a:p>
            <a:r>
              <a:rPr lang="es-ES" sz="3200" dirty="0" smtClean="0"/>
              <a:t>Contacto manual</a:t>
            </a:r>
          </a:p>
          <a:p>
            <a:pPr>
              <a:buNone/>
            </a:pPr>
            <a:r>
              <a:rPr lang="es-ES" sz="3200" dirty="0" smtClean="0"/>
              <a:t>	Punto fijo: a nivel del hombro.</a:t>
            </a:r>
          </a:p>
          <a:p>
            <a:pPr>
              <a:buNone/>
            </a:pPr>
            <a:r>
              <a:rPr lang="es-ES" sz="3200" dirty="0" smtClean="0"/>
              <a:t>	Punto móvil: a nivel de la muñeca.</a:t>
            </a:r>
          </a:p>
          <a:p>
            <a:r>
              <a:rPr lang="es-ES" sz="3200" dirty="0" smtClean="0"/>
              <a:t>Resistencia: </a:t>
            </a:r>
            <a:r>
              <a:rPr lang="es-ES" sz="3200" dirty="0" err="1" smtClean="0"/>
              <a:t>aduccion</a:t>
            </a:r>
            <a:r>
              <a:rPr lang="es-ES" sz="3200" dirty="0" smtClean="0"/>
              <a:t> y </a:t>
            </a:r>
            <a:r>
              <a:rPr lang="es-ES" sz="3200" dirty="0" err="1" smtClean="0"/>
              <a:t>rotacion</a:t>
            </a:r>
            <a:r>
              <a:rPr lang="es-ES" sz="3200" dirty="0" smtClean="0"/>
              <a:t> interna.</a:t>
            </a:r>
          </a:p>
          <a:p>
            <a:r>
              <a:rPr lang="es-ES" sz="3200" dirty="0" smtClean="0"/>
              <a:t>Maniobra: </a:t>
            </a:r>
            <a:r>
              <a:rPr lang="es-ES" sz="3200" dirty="0" err="1" smtClean="0"/>
              <a:t>aduccion</a:t>
            </a:r>
            <a:r>
              <a:rPr lang="es-ES" sz="3200" dirty="0" smtClean="0"/>
              <a:t>, </a:t>
            </a:r>
            <a:r>
              <a:rPr lang="es-ES" sz="3200" dirty="0" err="1" smtClean="0"/>
              <a:t>rotacion</a:t>
            </a:r>
            <a:r>
              <a:rPr lang="es-ES" sz="3200" dirty="0" smtClean="0"/>
              <a:t> externa y ligera </a:t>
            </a:r>
            <a:r>
              <a:rPr lang="es-ES" sz="3200" dirty="0" err="1" smtClean="0"/>
              <a:t>extension</a:t>
            </a:r>
            <a:r>
              <a:rPr lang="es-ES" sz="3200" dirty="0" smtClean="0"/>
              <a:t> de hombro.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238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063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334391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Deltoides fibras medias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sz="2800" dirty="0" smtClean="0"/>
              <a:t>Paciente en posición sedente. </a:t>
            </a:r>
          </a:p>
          <a:p>
            <a:r>
              <a:rPr lang="es-ES" sz="2800" dirty="0" smtClean="0"/>
              <a:t>Contacto manual</a:t>
            </a:r>
          </a:p>
          <a:p>
            <a:pPr>
              <a:buNone/>
            </a:pPr>
            <a:r>
              <a:rPr lang="es-ES" sz="2800" dirty="0" smtClean="0"/>
              <a:t>	Punto fijo: a nivel del hombro.</a:t>
            </a:r>
          </a:p>
          <a:p>
            <a:pPr>
              <a:buNone/>
            </a:pPr>
            <a:r>
              <a:rPr lang="es-ES" sz="2800" dirty="0" smtClean="0"/>
              <a:t>	Punto móvil: a nivel de la muñeca.</a:t>
            </a:r>
          </a:p>
          <a:p>
            <a:r>
              <a:rPr lang="es-ES" sz="2800" dirty="0" smtClean="0"/>
              <a:t>Resistencia: </a:t>
            </a:r>
            <a:r>
              <a:rPr lang="es-ES" sz="2800" dirty="0" err="1" smtClean="0"/>
              <a:t>abduccion</a:t>
            </a:r>
            <a:r>
              <a:rPr lang="es-ES" sz="2800" dirty="0" smtClean="0"/>
              <a:t> y </a:t>
            </a:r>
            <a:r>
              <a:rPr lang="es-ES" sz="2800" dirty="0" err="1" smtClean="0"/>
              <a:t>flexion</a:t>
            </a:r>
            <a:r>
              <a:rPr lang="es-ES" sz="2800" dirty="0" smtClean="0"/>
              <a:t>.</a:t>
            </a:r>
          </a:p>
          <a:p>
            <a:r>
              <a:rPr lang="es-ES" sz="2800" dirty="0" smtClean="0"/>
              <a:t>Maniobra: </a:t>
            </a:r>
            <a:r>
              <a:rPr lang="es-ES" sz="2800" dirty="0" err="1" smtClean="0"/>
              <a:t>aduccion</a:t>
            </a:r>
            <a:r>
              <a:rPr lang="es-ES" sz="2800" dirty="0" smtClean="0"/>
              <a:t> y </a:t>
            </a:r>
            <a:r>
              <a:rPr lang="es-ES" sz="2800" dirty="0" err="1" smtClean="0"/>
              <a:t>extension</a:t>
            </a:r>
            <a:r>
              <a:rPr lang="es-ES" sz="2800" dirty="0" smtClean="0"/>
              <a:t> de hombro.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3265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5 Marcador de contenido" descr="20120910_10080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234731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Deltoides posterior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sz="3200" dirty="0" smtClean="0"/>
              <a:t>Paciente en posición sedente. </a:t>
            </a:r>
          </a:p>
          <a:p>
            <a:r>
              <a:rPr lang="es-ES" sz="3200" dirty="0" smtClean="0"/>
              <a:t>Contacto manual</a:t>
            </a:r>
          </a:p>
          <a:p>
            <a:pPr>
              <a:buNone/>
            </a:pPr>
            <a:r>
              <a:rPr lang="es-ES" sz="3200" dirty="0" smtClean="0"/>
              <a:t>	Punto fijo: a nivel de la escapula.</a:t>
            </a:r>
          </a:p>
          <a:p>
            <a:pPr>
              <a:buNone/>
            </a:pPr>
            <a:r>
              <a:rPr lang="es-ES" sz="3200" dirty="0" smtClean="0"/>
              <a:t>	Punto móvil: a nivel del codo.</a:t>
            </a:r>
          </a:p>
          <a:p>
            <a:r>
              <a:rPr lang="es-ES" sz="3200" dirty="0" smtClean="0"/>
              <a:t>Resistencia: a la </a:t>
            </a:r>
            <a:r>
              <a:rPr lang="es-ES" sz="3200" dirty="0" err="1" smtClean="0"/>
              <a:t>extension</a:t>
            </a:r>
            <a:r>
              <a:rPr lang="es-ES" sz="3200" dirty="0" smtClean="0"/>
              <a:t>.</a:t>
            </a:r>
          </a:p>
          <a:p>
            <a:r>
              <a:rPr lang="es-ES" sz="3200" dirty="0" smtClean="0"/>
              <a:t>Maniobra: </a:t>
            </a:r>
            <a:r>
              <a:rPr lang="es-ES" sz="3200" dirty="0" err="1" smtClean="0"/>
              <a:t>aduccion</a:t>
            </a:r>
            <a:r>
              <a:rPr lang="es-ES" sz="3200" dirty="0" smtClean="0"/>
              <a:t> y </a:t>
            </a:r>
            <a:r>
              <a:rPr lang="es-ES" sz="3200" dirty="0" err="1" smtClean="0"/>
              <a:t>flexion</a:t>
            </a:r>
            <a:r>
              <a:rPr lang="es-ES" sz="3200" dirty="0" smtClean="0"/>
              <a:t> horizontal del hombro.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725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083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369855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Pectoral mayor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s-ES" sz="2800" dirty="0" smtClean="0"/>
              <a:t>Paciente en posición sedente con el brazo en abducción y </a:t>
            </a:r>
            <a:r>
              <a:rPr lang="es-ES" sz="2800" dirty="0" err="1" smtClean="0"/>
              <a:t>rotacion</a:t>
            </a:r>
            <a:r>
              <a:rPr lang="es-ES" sz="2800" dirty="0" smtClean="0"/>
              <a:t> externa. </a:t>
            </a:r>
          </a:p>
          <a:p>
            <a:r>
              <a:rPr lang="es-ES" sz="2800" dirty="0" smtClean="0"/>
              <a:t>Contacto manual</a:t>
            </a:r>
          </a:p>
          <a:p>
            <a:pPr>
              <a:buNone/>
            </a:pPr>
            <a:r>
              <a:rPr lang="es-ES" sz="2800" dirty="0" smtClean="0"/>
              <a:t>	Punto fijo: cara anterior del hombro.</a:t>
            </a:r>
          </a:p>
          <a:p>
            <a:pPr>
              <a:buNone/>
            </a:pPr>
            <a:r>
              <a:rPr lang="es-ES" sz="2800" dirty="0" smtClean="0"/>
              <a:t>	Punto móvil: a nivel del antebrazo.</a:t>
            </a:r>
          </a:p>
          <a:p>
            <a:r>
              <a:rPr lang="es-ES" sz="2800" dirty="0" smtClean="0"/>
              <a:t>Resistencia: a la aducción.</a:t>
            </a:r>
          </a:p>
          <a:p>
            <a:r>
              <a:rPr lang="es-ES" sz="2800" dirty="0" smtClean="0"/>
              <a:t>Maniobra:  se lleva el  brazo a una abducción.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111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095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395767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Biceps</a:t>
            </a:r>
            <a:r>
              <a:rPr lang="es-ES" dirty="0" smtClean="0"/>
              <a:t> braquial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s-ES" sz="3200" dirty="0" smtClean="0"/>
              <a:t>Paciente en posición sedente codo en ligera </a:t>
            </a:r>
            <a:r>
              <a:rPr lang="es-ES" sz="3200" dirty="0" err="1" smtClean="0"/>
              <a:t>flexion</a:t>
            </a:r>
            <a:r>
              <a:rPr lang="es-ES" sz="3200" dirty="0" smtClean="0"/>
              <a:t>. </a:t>
            </a:r>
          </a:p>
          <a:p>
            <a:r>
              <a:rPr lang="es-ES" sz="3200" dirty="0" smtClean="0"/>
              <a:t>Contacto manual</a:t>
            </a:r>
          </a:p>
          <a:p>
            <a:pPr>
              <a:buNone/>
            </a:pPr>
            <a:r>
              <a:rPr lang="es-ES" sz="3200" dirty="0" smtClean="0"/>
              <a:t>	Punto fijo:  </a:t>
            </a:r>
            <a:r>
              <a:rPr lang="es-ES" sz="3200" dirty="0" err="1" smtClean="0"/>
              <a:t>articulacion</a:t>
            </a:r>
            <a:r>
              <a:rPr lang="es-ES" sz="3200" dirty="0" smtClean="0"/>
              <a:t> del codo.</a:t>
            </a:r>
          </a:p>
          <a:p>
            <a:pPr>
              <a:buNone/>
            </a:pPr>
            <a:r>
              <a:rPr lang="es-ES" sz="3200" dirty="0" smtClean="0"/>
              <a:t>	Punto móvil: </a:t>
            </a:r>
            <a:r>
              <a:rPr lang="es-ES" sz="3200" dirty="0" err="1" smtClean="0"/>
              <a:t>articulacion</a:t>
            </a:r>
            <a:r>
              <a:rPr lang="es-ES" sz="3200" dirty="0" smtClean="0"/>
              <a:t> de la muñeca.</a:t>
            </a:r>
          </a:p>
          <a:p>
            <a:r>
              <a:rPr lang="es-ES" sz="3200" dirty="0" smtClean="0"/>
              <a:t>Resistencia: a la </a:t>
            </a:r>
            <a:r>
              <a:rPr lang="es-ES" sz="3200" dirty="0" err="1" smtClean="0"/>
              <a:t>flexion</a:t>
            </a:r>
            <a:r>
              <a:rPr lang="es-ES" sz="3200" dirty="0" smtClean="0"/>
              <a:t> de codo.</a:t>
            </a:r>
          </a:p>
          <a:p>
            <a:r>
              <a:rPr lang="es-ES" sz="3200" dirty="0" smtClean="0"/>
              <a:t>Maniobra:  </a:t>
            </a:r>
            <a:r>
              <a:rPr lang="es-ES" sz="3200" dirty="0" err="1" smtClean="0"/>
              <a:t>extension</a:t>
            </a:r>
            <a:r>
              <a:rPr lang="es-ES" sz="3200" dirty="0" smtClean="0"/>
              <a:t> de codo con pronación de antebrazo.</a:t>
            </a:r>
          </a:p>
        </p:txBody>
      </p:sp>
    </p:spTree>
    <p:extLst>
      <p:ext uri="{BB962C8B-B14F-4D97-AF65-F5344CB8AC3E}">
        <p14:creationId xmlns:p14="http://schemas.microsoft.com/office/powerpoint/2010/main" val="268880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1050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361586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Tríceps braquial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sz="2800" dirty="0" smtClean="0"/>
              <a:t>Paciente en posición sedente con el hombro y codo en flexión. </a:t>
            </a:r>
          </a:p>
          <a:p>
            <a:r>
              <a:rPr lang="es-ES" sz="2800" dirty="0" smtClean="0"/>
              <a:t>Contacto manual</a:t>
            </a:r>
          </a:p>
          <a:p>
            <a:pPr>
              <a:buNone/>
            </a:pPr>
            <a:r>
              <a:rPr lang="es-ES" sz="2800" dirty="0" smtClean="0"/>
              <a:t>	Punto fijo: cintura escapular .</a:t>
            </a:r>
          </a:p>
          <a:p>
            <a:pPr>
              <a:buNone/>
            </a:pPr>
            <a:r>
              <a:rPr lang="es-ES" sz="2800" dirty="0" smtClean="0"/>
              <a:t>	Punto móvil:  la muñeca.</a:t>
            </a:r>
          </a:p>
          <a:p>
            <a:r>
              <a:rPr lang="es-ES" sz="2800" dirty="0" smtClean="0"/>
              <a:t>Resistencia: </a:t>
            </a:r>
            <a:r>
              <a:rPr lang="es-ES" sz="2800" dirty="0" err="1" smtClean="0"/>
              <a:t>extension</a:t>
            </a:r>
            <a:r>
              <a:rPr lang="es-ES" sz="2800" dirty="0" smtClean="0"/>
              <a:t> de codo.</a:t>
            </a:r>
          </a:p>
          <a:p>
            <a:r>
              <a:rPr lang="es-ES" sz="2800" dirty="0" smtClean="0"/>
              <a:t>Maniobra:  </a:t>
            </a:r>
            <a:r>
              <a:rPr lang="es-ES" sz="2800" dirty="0" err="1" smtClean="0"/>
              <a:t>flexion</a:t>
            </a:r>
            <a:r>
              <a:rPr lang="es-ES" sz="2800" dirty="0" smtClean="0"/>
              <a:t>  de codo.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730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120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306671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Glúteo mayor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s-ES" sz="3200" dirty="0" smtClean="0"/>
              <a:t>Paciente en posición de cubito supino. </a:t>
            </a:r>
          </a:p>
          <a:p>
            <a:r>
              <a:rPr lang="es-ES" sz="3200" dirty="0" smtClean="0"/>
              <a:t>Contacto manual</a:t>
            </a:r>
          </a:p>
          <a:p>
            <a:pPr>
              <a:buNone/>
            </a:pPr>
            <a:r>
              <a:rPr lang="es-ES" sz="3200" dirty="0" smtClean="0"/>
              <a:t>	Punto fijo: pelvis .</a:t>
            </a:r>
          </a:p>
          <a:p>
            <a:pPr>
              <a:buNone/>
            </a:pPr>
            <a:r>
              <a:rPr lang="es-ES" sz="3200" dirty="0" smtClean="0"/>
              <a:t>	Punto móvil: rodilla y pie.</a:t>
            </a:r>
          </a:p>
          <a:p>
            <a:r>
              <a:rPr lang="es-ES" sz="3200" dirty="0" smtClean="0"/>
              <a:t>Resistencia: extensión  abducción y rotación externa de la cadera.</a:t>
            </a:r>
          </a:p>
          <a:p>
            <a:r>
              <a:rPr lang="es-ES" sz="3200" dirty="0" smtClean="0"/>
              <a:t>Maniobra: flexión </a:t>
            </a:r>
            <a:r>
              <a:rPr lang="es-ES" sz="3200" dirty="0" err="1" smtClean="0"/>
              <a:t>aduccion</a:t>
            </a:r>
            <a:r>
              <a:rPr lang="es-ES" sz="3200" dirty="0" smtClean="0"/>
              <a:t> y </a:t>
            </a:r>
            <a:r>
              <a:rPr lang="es-ES" sz="3200" dirty="0" err="1" smtClean="0"/>
              <a:t>rotacion</a:t>
            </a:r>
            <a:r>
              <a:rPr lang="es-ES" sz="3200" dirty="0" smtClean="0"/>
              <a:t> interna de la cadera.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180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1356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143431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Psoas iliaco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sz="2800" dirty="0" smtClean="0"/>
              <a:t>Paciente en posición de cubito lateral. </a:t>
            </a:r>
          </a:p>
          <a:p>
            <a:r>
              <a:rPr lang="es-ES" sz="2800" dirty="0" smtClean="0"/>
              <a:t>Contacto manual</a:t>
            </a:r>
          </a:p>
          <a:p>
            <a:pPr>
              <a:buNone/>
            </a:pPr>
            <a:r>
              <a:rPr lang="es-ES" sz="2800" dirty="0" smtClean="0"/>
              <a:t>	Punto fijo: pelvis .</a:t>
            </a:r>
          </a:p>
          <a:p>
            <a:pPr>
              <a:buNone/>
            </a:pPr>
            <a:r>
              <a:rPr lang="es-ES" sz="2800" dirty="0" smtClean="0"/>
              <a:t>	Punto móvil: rodilla.</a:t>
            </a:r>
          </a:p>
          <a:p>
            <a:r>
              <a:rPr lang="es-ES" sz="2800" dirty="0" err="1" smtClean="0"/>
              <a:t>Resistencia:flexion</a:t>
            </a:r>
            <a:r>
              <a:rPr lang="es-ES" sz="2800" dirty="0" smtClean="0"/>
              <a:t>, </a:t>
            </a:r>
            <a:r>
              <a:rPr lang="es-ES" sz="2800" dirty="0" err="1" smtClean="0"/>
              <a:t>aduccion</a:t>
            </a:r>
            <a:r>
              <a:rPr lang="es-ES" sz="2800" dirty="0" smtClean="0"/>
              <a:t> y </a:t>
            </a:r>
            <a:r>
              <a:rPr lang="es-ES" sz="2800" dirty="0" err="1" smtClean="0"/>
              <a:t>rotacion</a:t>
            </a:r>
            <a:r>
              <a:rPr lang="es-ES" sz="2800" dirty="0" smtClean="0"/>
              <a:t> externa de cadera.</a:t>
            </a:r>
          </a:p>
          <a:p>
            <a:r>
              <a:rPr lang="es-ES" sz="2800" dirty="0" smtClean="0"/>
              <a:t>Maniobra: </a:t>
            </a:r>
            <a:r>
              <a:rPr lang="es-ES" sz="2800" dirty="0" err="1" smtClean="0"/>
              <a:t>extension</a:t>
            </a:r>
            <a:r>
              <a:rPr lang="es-ES" sz="2800" dirty="0" smtClean="0"/>
              <a:t> </a:t>
            </a:r>
            <a:r>
              <a:rPr lang="es-ES" sz="2800" dirty="0" err="1" smtClean="0"/>
              <a:t>abduccion</a:t>
            </a:r>
            <a:r>
              <a:rPr lang="es-ES" sz="2800" dirty="0" smtClean="0"/>
              <a:t> y </a:t>
            </a:r>
            <a:r>
              <a:rPr lang="es-ES" sz="2800" dirty="0" err="1" smtClean="0"/>
              <a:t>rotacion</a:t>
            </a:r>
            <a:r>
              <a:rPr lang="es-ES" sz="2800" dirty="0" smtClean="0"/>
              <a:t> interna de la cadera 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89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6" name="3 Marcador de contenido" descr="20120910_10151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7664" y="2276872"/>
            <a:ext cx="6096000" cy="392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6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Gluteo</a:t>
            </a:r>
            <a:r>
              <a:rPr lang="es-ES" dirty="0" smtClean="0"/>
              <a:t> medio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s-ES" sz="3200" dirty="0" smtClean="0"/>
              <a:t>Paciente en posición lateral . </a:t>
            </a:r>
          </a:p>
          <a:p>
            <a:r>
              <a:rPr lang="es-ES" sz="3200" dirty="0" smtClean="0"/>
              <a:t>Contacto manual</a:t>
            </a:r>
          </a:p>
          <a:p>
            <a:pPr>
              <a:buNone/>
            </a:pPr>
            <a:r>
              <a:rPr lang="es-ES" sz="3200" dirty="0" smtClean="0"/>
              <a:t>	Punto fijo: pelvis .</a:t>
            </a:r>
          </a:p>
          <a:p>
            <a:pPr>
              <a:buNone/>
            </a:pPr>
            <a:r>
              <a:rPr lang="es-ES" sz="3200" dirty="0" smtClean="0"/>
              <a:t>	Punto móvil: rodilla.</a:t>
            </a:r>
          </a:p>
          <a:p>
            <a:r>
              <a:rPr lang="es-ES" sz="3200" dirty="0" smtClean="0"/>
              <a:t>Resistencia: flexión y abducción de la cadera.</a:t>
            </a:r>
          </a:p>
          <a:p>
            <a:r>
              <a:rPr lang="es-ES" sz="3200" dirty="0" smtClean="0"/>
              <a:t>Maniobra: extensión y aducción de la cadera 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290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161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260007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Recto anterior </a:t>
            </a:r>
            <a:r>
              <a:rPr lang="es-ES" dirty="0" err="1" smtClean="0"/>
              <a:t>cuadriceps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sz="2800" dirty="0" smtClean="0"/>
              <a:t>Paciente en de cubito prono . </a:t>
            </a:r>
          </a:p>
          <a:p>
            <a:r>
              <a:rPr lang="es-ES" sz="2800" dirty="0" smtClean="0"/>
              <a:t>Contacto manual</a:t>
            </a:r>
          </a:p>
          <a:p>
            <a:pPr>
              <a:buNone/>
            </a:pPr>
            <a:r>
              <a:rPr lang="es-ES" sz="2800" dirty="0" smtClean="0"/>
              <a:t>	Punto fijo: cara anterior de la rodilla .</a:t>
            </a:r>
          </a:p>
          <a:p>
            <a:pPr>
              <a:buNone/>
            </a:pPr>
            <a:r>
              <a:rPr lang="es-ES" sz="2800" dirty="0" smtClean="0"/>
              <a:t>	Punto móvil: cara anterior de la pierna.</a:t>
            </a:r>
          </a:p>
          <a:p>
            <a:r>
              <a:rPr lang="es-ES" sz="2800" dirty="0" smtClean="0"/>
              <a:t>Resistencia: extensión de la pierna.</a:t>
            </a:r>
          </a:p>
          <a:p>
            <a:r>
              <a:rPr lang="es-ES" sz="2800" dirty="0" smtClean="0"/>
              <a:t>Maniobra: flexión de la rodilla y extensión de la cadera.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711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173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222055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Isquiotibiales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s-ES" sz="3200" dirty="0" smtClean="0"/>
              <a:t>Paciente en de cubito supino con </a:t>
            </a:r>
            <a:r>
              <a:rPr lang="es-ES" sz="3200" dirty="0" err="1" smtClean="0"/>
              <a:t>flexion</a:t>
            </a:r>
            <a:r>
              <a:rPr lang="es-ES" sz="3200" dirty="0" smtClean="0"/>
              <a:t> de rodilla . </a:t>
            </a:r>
          </a:p>
          <a:p>
            <a:r>
              <a:rPr lang="es-ES" sz="3200" dirty="0" smtClean="0"/>
              <a:t>Contacto manual</a:t>
            </a:r>
          </a:p>
          <a:p>
            <a:pPr>
              <a:buNone/>
            </a:pPr>
            <a:r>
              <a:rPr lang="es-ES" sz="3200" dirty="0" smtClean="0"/>
              <a:t>	Punto fijo: rodilla . </a:t>
            </a:r>
          </a:p>
          <a:p>
            <a:pPr>
              <a:buNone/>
            </a:pPr>
            <a:r>
              <a:rPr lang="es-ES" sz="3200" dirty="0" smtClean="0"/>
              <a:t>	Punto móvil: </a:t>
            </a:r>
            <a:r>
              <a:rPr lang="es-ES" sz="3200" dirty="0" err="1" smtClean="0"/>
              <a:t>talon</a:t>
            </a:r>
            <a:r>
              <a:rPr lang="es-ES" sz="3200" dirty="0" smtClean="0"/>
              <a:t>. </a:t>
            </a:r>
          </a:p>
          <a:p>
            <a:r>
              <a:rPr lang="es-ES" sz="3200" dirty="0" smtClean="0"/>
              <a:t>Resistencia: </a:t>
            </a:r>
            <a:r>
              <a:rPr lang="es-ES" sz="3200" dirty="0" err="1" smtClean="0"/>
              <a:t>flexion</a:t>
            </a:r>
            <a:r>
              <a:rPr lang="es-ES" sz="3200" dirty="0" smtClean="0"/>
              <a:t> de rodilla.</a:t>
            </a:r>
          </a:p>
          <a:p>
            <a:r>
              <a:rPr lang="es-ES" sz="3200" dirty="0" smtClean="0"/>
              <a:t>Maniobra: </a:t>
            </a:r>
            <a:r>
              <a:rPr lang="es-ES" sz="3200" dirty="0" err="1" smtClean="0"/>
              <a:t>extension</a:t>
            </a:r>
            <a:r>
              <a:rPr lang="es-ES" sz="3200" dirty="0" smtClean="0"/>
              <a:t> de la rodilla y </a:t>
            </a:r>
            <a:r>
              <a:rPr lang="es-ES" sz="3200" dirty="0" err="1" smtClean="0"/>
              <a:t>flexion</a:t>
            </a:r>
            <a:r>
              <a:rPr lang="es-ES" sz="3200" dirty="0" smtClean="0"/>
              <a:t> de la cadera en </a:t>
            </a:r>
            <a:r>
              <a:rPr lang="es-ES" sz="3200" dirty="0" err="1" smtClean="0"/>
              <a:t>linea</a:t>
            </a:r>
            <a:r>
              <a:rPr lang="es-ES" sz="3200" dirty="0" smtClean="0"/>
              <a:t> media.</a:t>
            </a:r>
            <a:endParaRPr lang="es-ES" dirty="0" smtClean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577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1900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174086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Gemelo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sz="2800" dirty="0" smtClean="0"/>
              <a:t>Paciente en de cubito supino con </a:t>
            </a:r>
            <a:r>
              <a:rPr lang="es-ES" sz="2800" dirty="0" err="1" smtClean="0"/>
              <a:t>extension</a:t>
            </a:r>
            <a:r>
              <a:rPr lang="es-ES" sz="2800" dirty="0" smtClean="0"/>
              <a:t> de rodilla . </a:t>
            </a:r>
          </a:p>
          <a:p>
            <a:r>
              <a:rPr lang="es-ES" sz="2800" dirty="0" smtClean="0"/>
              <a:t>Contacto manual</a:t>
            </a:r>
          </a:p>
          <a:p>
            <a:pPr>
              <a:buNone/>
            </a:pPr>
            <a:r>
              <a:rPr lang="es-ES" sz="2800" dirty="0" smtClean="0"/>
              <a:t>	Punto fijo: rodilla . </a:t>
            </a:r>
          </a:p>
          <a:p>
            <a:pPr>
              <a:buNone/>
            </a:pPr>
            <a:r>
              <a:rPr lang="es-ES" sz="2800" dirty="0" smtClean="0"/>
              <a:t>	Punto móvil: cabeza de </a:t>
            </a:r>
            <a:r>
              <a:rPr lang="es-ES" sz="2800" dirty="0" err="1" smtClean="0"/>
              <a:t>mos</a:t>
            </a:r>
            <a:r>
              <a:rPr lang="es-ES" sz="2800" dirty="0" smtClean="0"/>
              <a:t> metatarsianos. </a:t>
            </a:r>
          </a:p>
          <a:p>
            <a:r>
              <a:rPr lang="es-ES" sz="2800" dirty="0" smtClean="0"/>
              <a:t>Resistencia: </a:t>
            </a:r>
            <a:r>
              <a:rPr lang="es-ES" sz="2800" dirty="0" err="1" smtClean="0"/>
              <a:t>plantiflexion</a:t>
            </a:r>
            <a:r>
              <a:rPr lang="es-ES" sz="2800" dirty="0" smtClean="0"/>
              <a:t>.</a:t>
            </a:r>
          </a:p>
          <a:p>
            <a:r>
              <a:rPr lang="es-ES" sz="2800" dirty="0" smtClean="0"/>
              <a:t>Maniobra: </a:t>
            </a:r>
            <a:r>
              <a:rPr lang="es-ES" sz="2800" dirty="0" err="1" smtClean="0"/>
              <a:t>dorsiflexion</a:t>
            </a:r>
            <a:r>
              <a:rPr lang="es-ES" sz="2800" dirty="0" smtClean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124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211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319534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Soleo</a:t>
            </a:r>
            <a:br>
              <a:rPr lang="es-ES" dirty="0" smtClean="0"/>
            </a:b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sz="2800" dirty="0" smtClean="0"/>
              <a:t>Paciente en de cubito prono con </a:t>
            </a:r>
            <a:r>
              <a:rPr lang="es-ES" sz="2800" dirty="0" err="1" smtClean="0"/>
              <a:t>flexion</a:t>
            </a:r>
            <a:r>
              <a:rPr lang="es-ES" sz="2800" dirty="0" smtClean="0"/>
              <a:t> de rodilla a 90 grados . </a:t>
            </a:r>
          </a:p>
          <a:p>
            <a:r>
              <a:rPr lang="es-ES" sz="2800" dirty="0" smtClean="0"/>
              <a:t>Contacto manual</a:t>
            </a:r>
          </a:p>
          <a:p>
            <a:pPr>
              <a:buNone/>
            </a:pPr>
            <a:r>
              <a:rPr lang="es-ES" sz="2800" dirty="0" smtClean="0"/>
              <a:t>	Punto fijo: cara posterior del muslo . </a:t>
            </a:r>
          </a:p>
          <a:p>
            <a:pPr>
              <a:buNone/>
            </a:pPr>
            <a:r>
              <a:rPr lang="es-ES" sz="2800" dirty="0" smtClean="0"/>
              <a:t>	Punto móvil: a la altura de la cabeza de los metatarsianos del pie. </a:t>
            </a:r>
          </a:p>
          <a:p>
            <a:r>
              <a:rPr lang="es-ES" sz="2800" dirty="0" smtClean="0"/>
              <a:t>Resistencia: </a:t>
            </a:r>
            <a:r>
              <a:rPr lang="es-ES" sz="2800" dirty="0" err="1" smtClean="0"/>
              <a:t>plantiflexion</a:t>
            </a:r>
            <a:r>
              <a:rPr lang="es-ES" sz="2800" dirty="0" smtClean="0"/>
              <a:t> .</a:t>
            </a:r>
          </a:p>
          <a:p>
            <a:r>
              <a:rPr lang="es-ES" sz="2800" dirty="0" smtClean="0"/>
              <a:t>Maniobra: </a:t>
            </a:r>
            <a:r>
              <a:rPr lang="es-ES" sz="2800" dirty="0" err="1" smtClean="0"/>
              <a:t>dorsiflexion</a:t>
            </a:r>
            <a:r>
              <a:rPr lang="es-ES" sz="2800" dirty="0" smtClean="0"/>
              <a:t>.</a:t>
            </a:r>
            <a:endParaRPr lang="es-ES" dirty="0" smtClean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981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20120910_10223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92058" y="2324100"/>
            <a:ext cx="4678896" cy="3508375"/>
          </a:xfrm>
        </p:spPr>
      </p:pic>
    </p:spTree>
    <p:extLst>
      <p:ext uri="{BB962C8B-B14F-4D97-AF65-F5344CB8AC3E}">
        <p14:creationId xmlns:p14="http://schemas.microsoft.com/office/powerpoint/2010/main" val="25765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1029</TotalTime>
  <Words>551</Words>
  <Application>Microsoft Office PowerPoint</Application>
  <PresentationFormat>Presentación en pantalla (4:3)</PresentationFormat>
  <Paragraphs>192</Paragraphs>
  <Slides>51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5" baseType="lpstr">
      <vt:lpstr>Calibri</vt:lpstr>
      <vt:lpstr>Century Gothic</vt:lpstr>
      <vt:lpstr>Wingdings 2</vt:lpstr>
      <vt:lpstr>Austin</vt:lpstr>
      <vt:lpstr>   ESTIRAMIENTOS MUSCULO TENDINOSOS LIC. CESAR BORJA ARENAS</vt:lpstr>
      <vt:lpstr>INDICACIONES DEL ESTIRAMIENTO</vt:lpstr>
      <vt:lpstr>FACTORES PSICOLOGICOS QUE INFLUYEN EN EL ESTIRAMIENTO</vt:lpstr>
      <vt:lpstr>LA RESPIRACION Y ESTIRAMIENTO</vt:lpstr>
      <vt:lpstr>PRECAUCIONES DE LOS ESTIRAMIENTOS</vt:lpstr>
      <vt:lpstr>CONTRAINDICACIONES</vt:lpstr>
      <vt:lpstr>PREPARACION PREVIA AL ESTIRAMIENTO</vt:lpstr>
      <vt:lpstr>TECNICAS DE ESTIRAMIENTO</vt:lpstr>
      <vt:lpstr>Estiramiento dinámico </vt:lpstr>
      <vt:lpstr>Presentación de PowerPoint</vt:lpstr>
      <vt:lpstr>ESTIRAMIENTO ESTATICO</vt:lpstr>
      <vt:lpstr>Presentación de PowerPoint</vt:lpstr>
      <vt:lpstr>Presentación de PowerPoint</vt:lpstr>
      <vt:lpstr>ESTIRAMIENTO DE LOS MUSCULOS</vt:lpstr>
      <vt:lpstr>Presentación de PowerPoint</vt:lpstr>
      <vt:lpstr>Presentación de PowerPoint</vt:lpstr>
      <vt:lpstr>Presentación de PowerPoint</vt:lpstr>
      <vt:lpstr> Romboides</vt:lpstr>
      <vt:lpstr>Presentación de PowerPoint</vt:lpstr>
      <vt:lpstr> Dorsal ancho</vt:lpstr>
      <vt:lpstr>Presentación de PowerPoint</vt:lpstr>
      <vt:lpstr> Cuadrado Lumbar</vt:lpstr>
      <vt:lpstr>Presentación de PowerPoint</vt:lpstr>
      <vt:lpstr> Recto anterior del abdomen</vt:lpstr>
      <vt:lpstr>Presentación de PowerPoint</vt:lpstr>
      <vt:lpstr>Deltoides fibras  anteriores</vt:lpstr>
      <vt:lpstr>Presentación de PowerPoint</vt:lpstr>
      <vt:lpstr>Deltoides fibras medias</vt:lpstr>
      <vt:lpstr>Presentación de PowerPoint</vt:lpstr>
      <vt:lpstr>Deltoides posterior</vt:lpstr>
      <vt:lpstr>Presentación de PowerPoint</vt:lpstr>
      <vt:lpstr>Pectoral mayor</vt:lpstr>
      <vt:lpstr>Presentación de PowerPoint</vt:lpstr>
      <vt:lpstr>Biceps braquial</vt:lpstr>
      <vt:lpstr>Presentación de PowerPoint</vt:lpstr>
      <vt:lpstr>Tríceps braquial</vt:lpstr>
      <vt:lpstr>Presentación de PowerPoint</vt:lpstr>
      <vt:lpstr>Glúteo mayor</vt:lpstr>
      <vt:lpstr>Presentación de PowerPoint</vt:lpstr>
      <vt:lpstr>Psoas iliaco</vt:lpstr>
      <vt:lpstr>Presentación de PowerPoint</vt:lpstr>
      <vt:lpstr>Gluteo medio</vt:lpstr>
      <vt:lpstr>Presentación de PowerPoint</vt:lpstr>
      <vt:lpstr>Recto anterior cuadriceps</vt:lpstr>
      <vt:lpstr>Presentación de PowerPoint</vt:lpstr>
      <vt:lpstr>Isquiotibiales</vt:lpstr>
      <vt:lpstr>Presentación de PowerPoint</vt:lpstr>
      <vt:lpstr>Gemelo</vt:lpstr>
      <vt:lpstr>Presentación de PowerPoint</vt:lpstr>
      <vt:lpstr>Soleo </vt:lpstr>
      <vt:lpstr>Presentación de PowerPoint</vt:lpstr>
    </vt:vector>
  </TitlesOfParts>
  <Company>Luffi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Lic . Mayk gutarra                      coordinador del servicio de  rehabilitacion fisica de HCSJD</dc:title>
  <dc:creator>Luffi</dc:creator>
  <cp:lastModifiedBy>Solange Mateo</cp:lastModifiedBy>
  <cp:revision>21</cp:revision>
  <dcterms:created xsi:type="dcterms:W3CDTF">2014-08-12T04:01:32Z</dcterms:created>
  <dcterms:modified xsi:type="dcterms:W3CDTF">2026-04-20T00:36:55Z</dcterms:modified>
</cp:coreProperties>
</file>